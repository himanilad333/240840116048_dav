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07" r:id="rId7"/>
    <p:sldId id="281" r:id="rId8"/>
    <p:sldId id="323" r:id="rId9"/>
    <p:sldId id="282" r:id="rId10"/>
    <p:sldId id="314" r:id="rId11"/>
    <p:sldId id="315" r:id="rId12"/>
    <p:sldId id="317" r:id="rId13"/>
    <p:sldId id="324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388" autoAdjust="0"/>
  </p:normalViewPr>
  <p:slideViewPr>
    <p:cSldViewPr snapToGrid="0" snapToObjects="1">
      <p:cViewPr>
        <p:scale>
          <a:sx n="100" d="100"/>
          <a:sy n="100" d="100"/>
        </p:scale>
        <p:origin x="-14" y="-8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1247" y="836909"/>
            <a:ext cx="4949505" cy="1446550"/>
          </a:xfrm>
        </p:spPr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DATA ANALYTICS AND VISUALIZATION(IT508)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13960-31E2-7AF4-2B6B-5A03006146E8}"/>
              </a:ext>
            </a:extLst>
          </p:cNvPr>
          <p:cNvSpPr txBox="1"/>
          <p:nvPr/>
        </p:nvSpPr>
        <p:spPr>
          <a:xfrm>
            <a:off x="3137483" y="2095258"/>
            <a:ext cx="63700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+mj-lt"/>
              </a:rPr>
              <a:t>Problem statement:</a:t>
            </a:r>
          </a:p>
          <a:p>
            <a:endParaRPr lang="en-IN" b="1" dirty="0">
              <a:latin typeface="+mj-lt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The main problem is to </a:t>
            </a:r>
            <a:r>
              <a:rPr lang="en-IN" sz="1600" dirty="0" err="1"/>
              <a:t>analyze</a:t>
            </a:r>
            <a:r>
              <a:rPr lang="en-IN" sz="1600" dirty="0"/>
              <a:t> supermarket sales and profit data to identify sales trend, high-performing regions, profitable product sub-categories, and opportunities to improve overall performance.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4241F-CC93-E675-270C-4A2674EE2E7E}"/>
              </a:ext>
            </a:extLst>
          </p:cNvPr>
          <p:cNvSpPr txBox="1"/>
          <p:nvPr/>
        </p:nvSpPr>
        <p:spPr>
          <a:xfrm>
            <a:off x="2762389" y="805408"/>
            <a:ext cx="7120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  <a:latin typeface="+mj-lt"/>
              </a:rPr>
              <a:t>DATASET: Sample Super Market Store </a:t>
            </a:r>
            <a:endParaRPr lang="en-IN" sz="24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AD859-3D87-8753-8E1C-091E4D517022}"/>
              </a:ext>
            </a:extLst>
          </p:cNvPr>
          <p:cNvSpPr txBox="1"/>
          <p:nvPr/>
        </p:nvSpPr>
        <p:spPr>
          <a:xfrm>
            <a:off x="4061670" y="5536733"/>
            <a:ext cx="44042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Name : Amee Patel-240840116003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             Nishtha Bilimoria-240840116010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	     Devanshi Desai-240840116023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	     Kavya Desai-240840116041</a:t>
            </a:r>
          </a:p>
          <a:p>
            <a:r>
              <a:rPr lang="en-IN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	     Himani Lad-240840116048</a:t>
            </a:r>
          </a:p>
          <a:p>
            <a:r>
              <a:rPr lang="en-IN" dirty="0"/>
              <a:t>		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CC5041-3C32-BD68-33DB-FBD4D42A699F}"/>
              </a:ext>
            </a:extLst>
          </p:cNvPr>
          <p:cNvSpPr txBox="1"/>
          <p:nvPr/>
        </p:nvSpPr>
        <p:spPr>
          <a:xfrm>
            <a:off x="4884420" y="4069080"/>
            <a:ext cx="1949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TEAM | VISIONX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" y="457199"/>
            <a:ext cx="8380602" cy="868888"/>
          </a:xfrm>
        </p:spPr>
        <p:txBody>
          <a:bodyPr/>
          <a:lstStyle/>
          <a:p>
            <a:r>
              <a:rPr lang="en-US" sz="3200" dirty="0"/>
              <a:t>WHAT WE OBSERVED in RAW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947" y="1433677"/>
            <a:ext cx="6583680" cy="2794373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Raw Data Overview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Order Details: Contains Order ID, Order Date, Ship Date, and Ship Mode.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Customer Details: Includes Customer ID, Customer Name, and Customer Segment.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Geographical Details: Contains Country, City, State, Postal Code, and Region.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Product Details: Includes Product ID, Category, and Sub-Category.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Customer Segments: Customers are classified into Consumer, Corporate, and Home Office.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99F233-1668-D105-9A99-C07D7E555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745" y="3985528"/>
            <a:ext cx="4955937" cy="259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952" y="38166"/>
            <a:ext cx="5723586" cy="1371184"/>
          </a:xfrm>
        </p:spPr>
        <p:txBody>
          <a:bodyPr/>
          <a:lstStyle/>
          <a:p>
            <a:r>
              <a:rPr lang="en-US" dirty="0"/>
              <a:t>Data Cleaning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9A83F7-F39A-89B1-965B-12A61626A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31" y="1347854"/>
            <a:ext cx="5387807" cy="43132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5F18F6-1E9F-F748-60AE-8D151D00F9AC}"/>
              </a:ext>
            </a:extLst>
          </p:cNvPr>
          <p:cNvSpPr txBox="1"/>
          <p:nvPr/>
        </p:nvSpPr>
        <p:spPr>
          <a:xfrm>
            <a:off x="6604193" y="1347854"/>
            <a:ext cx="372265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Date Format Correction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Problem:</a:t>
            </a:r>
            <a:r>
              <a:rPr lang="en-IN" dirty="0"/>
              <a:t> The Order Date and Ship Date columns had a date-format mismatch.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Action Taken:</a:t>
            </a:r>
            <a:r>
              <a:rPr lang="en-IN" dirty="0"/>
              <a:t> Changed the date format of both columns in Power BI.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Data Type:</a:t>
            </a:r>
            <a:r>
              <a:rPr lang="en-IN" dirty="0"/>
              <a:t> Ensured both columns use the Date data type.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Format Applied:</a:t>
            </a:r>
            <a:r>
              <a:rPr lang="en-IN" dirty="0"/>
              <a:t> Selected a consistent date format, such as DD-MM-YYYY.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Result:</a:t>
            </a:r>
            <a:r>
              <a:rPr lang="en-IN" dirty="0"/>
              <a:t> Dates are displayed consistently, making date-based filtering and time-series analysis easier.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807" y="486823"/>
            <a:ext cx="5259554" cy="855415"/>
          </a:xfrm>
        </p:spPr>
        <p:txBody>
          <a:bodyPr/>
          <a:lstStyle/>
          <a:p>
            <a:r>
              <a:rPr lang="en-US" dirty="0"/>
              <a:t>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2E3EBD-F3BC-7A0A-7451-AFF06D57B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07" y="1342238"/>
            <a:ext cx="945832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AD32F-F9A4-8969-3BB4-A27F1129B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3453" y="270511"/>
            <a:ext cx="7965461" cy="994164"/>
          </a:xfrm>
        </p:spPr>
        <p:txBody>
          <a:bodyPr/>
          <a:lstStyle/>
          <a:p>
            <a:r>
              <a:rPr lang="en-IN" sz="2800" dirty="0"/>
              <a:t>KPI Cards &amp; Order Date Slicer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39371-7C61-EA0A-61DB-03562A6E0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3453" y="1023457"/>
            <a:ext cx="7965460" cy="53521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1500" dirty="0">
                <a:solidFill>
                  <a:schemeClr val="tx1"/>
                </a:solidFill>
              </a:rPr>
              <a:t>Count of Customer ID: 793</a:t>
            </a:r>
          </a:p>
          <a:p>
            <a:pPr lvl="0"/>
            <a:r>
              <a:rPr lang="en-IN" sz="1500" dirty="0">
                <a:solidFill>
                  <a:schemeClr val="tx1"/>
                </a:solidFill>
              </a:rPr>
              <a:t>Purpose: To measure customer activity.</a:t>
            </a:r>
          </a:p>
          <a:p>
            <a:pPr lvl="0"/>
            <a:r>
              <a:rPr lang="en-IN" sz="1500" dirty="0">
                <a:solidFill>
                  <a:schemeClr val="tx1"/>
                </a:solidFill>
              </a:rPr>
              <a:t>Insight: The dataset contains 793 counted customer IDs.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500" dirty="0">
                <a:solidFill>
                  <a:schemeClr val="tx1"/>
                </a:solidFill>
              </a:rPr>
              <a:t>Count of Order ID: 5.009K</a:t>
            </a:r>
          </a:p>
          <a:p>
            <a:pPr lvl="0"/>
            <a:r>
              <a:rPr lang="en-IN" sz="1500" dirty="0">
                <a:solidFill>
                  <a:schemeClr val="tx1"/>
                </a:solidFill>
              </a:rPr>
              <a:t>Purpose: To measure order activity.</a:t>
            </a:r>
          </a:p>
          <a:p>
            <a:pPr lvl="0"/>
            <a:r>
              <a:rPr lang="en-IN" sz="1500" dirty="0">
                <a:solidFill>
                  <a:schemeClr val="tx1"/>
                </a:solidFill>
              </a:rPr>
              <a:t>Insight: Approximately 5,009 order IDs are counted.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1500" dirty="0">
                <a:solidFill>
                  <a:schemeClr val="tx1"/>
                </a:solidFill>
              </a:rPr>
              <a:t> Sum of Profit: 286.40K</a:t>
            </a:r>
          </a:p>
          <a:p>
            <a:pPr lvl="0"/>
            <a:r>
              <a:rPr lang="en-IN" sz="1500" dirty="0">
                <a:solidFill>
                  <a:schemeClr val="tx1"/>
                </a:solidFill>
              </a:rPr>
              <a:t>Purpose: To measure total profit earned.</a:t>
            </a:r>
          </a:p>
          <a:p>
            <a:pPr lvl="0"/>
            <a:r>
              <a:rPr lang="en-IN" sz="1500" dirty="0">
                <a:solidFill>
                  <a:schemeClr val="tx1"/>
                </a:solidFill>
              </a:rPr>
              <a:t>Insight: The total recorded profit is approximately 286,400.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500" dirty="0">
                <a:solidFill>
                  <a:schemeClr val="tx1"/>
                </a:solidFill>
              </a:rPr>
              <a:t> Sum of Sales: 2.30M</a:t>
            </a:r>
          </a:p>
          <a:p>
            <a:pPr lvl="0"/>
            <a:r>
              <a:rPr lang="en-IN" sz="1500" dirty="0">
                <a:solidFill>
                  <a:schemeClr val="tx1"/>
                </a:solidFill>
              </a:rPr>
              <a:t>Purpose: To measure total sales revenue.</a:t>
            </a:r>
          </a:p>
          <a:p>
            <a:pPr lvl="0"/>
            <a:r>
              <a:rPr lang="en-IN" sz="1500" dirty="0">
                <a:solidFill>
                  <a:schemeClr val="tx1"/>
                </a:solidFill>
              </a:rPr>
              <a:t>Insight: Total recorded sales are approximately 2.3 million.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500" b="1" dirty="0"/>
              <a:t>SLICER CHART:</a:t>
            </a:r>
          </a:p>
          <a:p>
            <a:pPr lvl="0"/>
            <a:r>
              <a:rPr lang="en-IN" sz="1500" dirty="0">
                <a:solidFill>
                  <a:schemeClr val="tx1"/>
                </a:solidFill>
              </a:rPr>
              <a:t>Purpose: To filter the dashboard based on the selected order date .</a:t>
            </a:r>
          </a:p>
          <a:p>
            <a:pPr lvl="0"/>
            <a:r>
              <a:rPr lang="en-IN" sz="1500" dirty="0">
                <a:solidFill>
                  <a:schemeClr val="tx1"/>
                </a:solidFill>
              </a:rPr>
              <a:t>Insight: Currently, All is selected, so the dashboard displays data for all available order dates</a:t>
            </a:r>
            <a:r>
              <a:rPr lang="en-IN" sz="1500" dirty="0"/>
              <a:t>.</a:t>
            </a:r>
          </a:p>
          <a:p>
            <a:pPr lvl="0"/>
            <a:endParaRPr lang="en-IN" sz="1500" dirty="0">
              <a:solidFill>
                <a:schemeClr val="tx1"/>
              </a:solidFill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297FC4-FF78-59F8-1178-018C99904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3572" y="1061270"/>
            <a:ext cx="2674511" cy="2638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B6ED4B-2A23-D935-DC86-2CC19EA11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791" y="3991097"/>
            <a:ext cx="2622292" cy="78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60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895" y="293840"/>
            <a:ext cx="7965461" cy="994164"/>
          </a:xfrm>
        </p:spPr>
        <p:txBody>
          <a:bodyPr/>
          <a:lstStyle/>
          <a:p>
            <a:br>
              <a:rPr lang="en-IN" sz="2800" dirty="0"/>
            </a:br>
            <a:br>
              <a:rPr lang="en-IN" sz="2800" dirty="0"/>
            </a:br>
            <a:r>
              <a:rPr lang="en-IN" sz="2800" dirty="0"/>
              <a:t>line Chart : Sum of Sales by Month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1451363"/>
            <a:ext cx="7965460" cy="4949438"/>
          </a:xfrm>
        </p:spPr>
        <p:txBody>
          <a:bodyPr>
            <a:normAutofit fontScale="85000" lnSpcReduction="10000"/>
          </a:bodyPr>
          <a:lstStyle/>
          <a:p>
            <a:r>
              <a:rPr lang="en-IN" dirty="0">
                <a:solidFill>
                  <a:schemeClr val="tx1"/>
                </a:solidFill>
              </a:rPr>
              <a:t>Purpose: To understand how total sales change from month to month.</a:t>
            </a:r>
          </a:p>
          <a:p>
            <a:r>
              <a:rPr lang="en-IN" dirty="0">
                <a:solidFill>
                  <a:schemeClr val="tx1"/>
                </a:solidFill>
              </a:rPr>
              <a:t>What it shows: The horizontal axis represents months from January to December, while the vertical axis represents the sum of sales.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tx1"/>
                </a:solidFill>
              </a:rPr>
              <a:t>Insights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January sales are approximately 0.10M.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Sales decline in February before increasing sharply in March.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Sales remain relatively stable from April through August.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Sales rise sharply in September, decline in October, and reach their highest level in November.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December sales decrease slightly from November but remain high.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627557-7B88-8588-B2D7-C793B8238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772" y="2365730"/>
            <a:ext cx="5553512" cy="185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7246" y="302398"/>
            <a:ext cx="7043617" cy="1027238"/>
          </a:xfrm>
        </p:spPr>
        <p:txBody>
          <a:bodyPr/>
          <a:lstStyle/>
          <a:p>
            <a:r>
              <a:rPr lang="en-IN" sz="2800" dirty="0"/>
              <a:t>Donut Chart : Count of Sales by Region</a:t>
            </a:r>
            <a:endParaRPr lang="en-US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727245" y="1498154"/>
            <a:ext cx="8034119" cy="499145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Purpose: To compare sales-record distribution across four regions.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Regions shown: West, East, Central and South.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solidFill>
                  <a:schemeClr val="tx1"/>
                </a:solidFill>
              </a:rPr>
              <a:t>Insights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West has the largest reported share.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East is close behind West.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Central contributes approximately one-quarter of the displayed distribution.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South has the smallest reported share.</a:t>
            </a:r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8E953C-DC60-E56F-74E1-A5318CE44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476344"/>
              </p:ext>
            </p:extLst>
          </p:nvPr>
        </p:nvGraphicFramePr>
        <p:xfrm>
          <a:off x="3833449" y="3993880"/>
          <a:ext cx="6831210" cy="18288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3415605">
                  <a:extLst>
                    <a:ext uri="{9D8B030D-6E8A-4147-A177-3AD203B41FA5}">
                      <a16:colId xmlns:a16="http://schemas.microsoft.com/office/drawing/2014/main" val="49178619"/>
                    </a:ext>
                  </a:extLst>
                </a:gridCol>
                <a:gridCol w="3415605">
                  <a:extLst>
                    <a:ext uri="{9D8B030D-6E8A-4147-A177-3AD203B41FA5}">
                      <a16:colId xmlns:a16="http://schemas.microsoft.com/office/drawing/2014/main" val="883923870"/>
                    </a:ext>
                  </a:extLst>
                </a:gridCol>
              </a:tblGrid>
              <a:tr h="300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Percentage shown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318103"/>
                  </a:ext>
                </a:extLst>
              </a:tr>
              <a:tr h="300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29.73%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801204"/>
                  </a:ext>
                </a:extLst>
              </a:tr>
              <a:tr h="300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28.58%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1722984"/>
                  </a:ext>
                </a:extLst>
              </a:tr>
              <a:tr h="300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Central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24.28%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403128"/>
                  </a:ext>
                </a:extLst>
              </a:tr>
              <a:tr h="300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South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17.41%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014620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A798526-7EE5-258D-0026-B9EF91664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12" y="2142688"/>
            <a:ext cx="3028425" cy="269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87" y="276837"/>
            <a:ext cx="7796464" cy="1027298"/>
          </a:xfrm>
        </p:spPr>
        <p:txBody>
          <a:bodyPr/>
          <a:lstStyle/>
          <a:p>
            <a:r>
              <a:rPr lang="en-IN" sz="2800" dirty="0"/>
              <a:t>Horizontal bar Chart : Count of Profit by Sub-Category</a:t>
            </a:r>
            <a:endParaRPr lang="en-US" sz="28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3AEE594-B285-2ACF-6F46-5B3E0A3803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99875" y="2608978"/>
            <a:ext cx="5696125" cy="22398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342467-621D-4C38-9722-A32A495A2AA0}"/>
              </a:ext>
            </a:extLst>
          </p:cNvPr>
          <p:cNvSpPr txBox="1"/>
          <p:nvPr/>
        </p:nvSpPr>
        <p:spPr>
          <a:xfrm>
            <a:off x="299287" y="1379988"/>
            <a:ext cx="72816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Purpose: To compare the displayed profit-related counts for different product sub-categories.</a:t>
            </a:r>
          </a:p>
          <a:p>
            <a:r>
              <a:rPr lang="en-IN" dirty="0"/>
              <a:t>What it shows: Longer bars represent higher counts in the selected measure.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A2D460-3B91-E091-E3CD-048F70E89E1A}"/>
              </a:ext>
            </a:extLst>
          </p:cNvPr>
          <p:cNvSpPr txBox="1"/>
          <p:nvPr/>
        </p:nvSpPr>
        <p:spPr>
          <a:xfrm>
            <a:off x="299287" y="4983061"/>
            <a:ext cx="76954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Insights</a:t>
            </a:r>
          </a:p>
          <a:p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The supermarket should </a:t>
            </a:r>
            <a:r>
              <a:rPr lang="en-IN" dirty="0" err="1"/>
              <a:t>analyze</a:t>
            </a:r>
            <a:r>
              <a:rPr lang="en-IN" dirty="0"/>
              <a:t> product sales and profit to identify the most profitable sub-categories.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804" y="613055"/>
            <a:ext cx="7631709" cy="1091627"/>
          </a:xfrm>
        </p:spPr>
        <p:txBody>
          <a:bodyPr/>
          <a:lstStyle/>
          <a:p>
            <a:r>
              <a:rPr lang="en-IN" sz="2800" dirty="0"/>
              <a:t>Filled map Chart : Count of Product Name by State and City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35EF26-1BCD-CD3A-7D0E-6CC6E9E2E177}"/>
              </a:ext>
            </a:extLst>
          </p:cNvPr>
          <p:cNvSpPr txBox="1"/>
          <p:nvPr/>
        </p:nvSpPr>
        <p:spPr>
          <a:xfrm>
            <a:off x="830510" y="1904301"/>
            <a:ext cx="107462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Purpose: To visualize the geographical distribution of product records across states and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What it shows: Geographic areas are </a:t>
            </a:r>
            <a:r>
              <a:rPr lang="en-IN" dirty="0" err="1"/>
              <a:t>colored</a:t>
            </a:r>
            <a:r>
              <a:rPr lang="en-IN" dirty="0"/>
              <a:t> to distinguish data associated with different locations or categories.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409738-9419-0660-AB48-AC0112720DD0}"/>
              </a:ext>
            </a:extLst>
          </p:cNvPr>
          <p:cNvSpPr txBox="1"/>
          <p:nvPr/>
        </p:nvSpPr>
        <p:spPr>
          <a:xfrm>
            <a:off x="72353" y="4826052"/>
            <a:ext cx="105732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Insights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map displays the United States, with multiple states shown in different </a:t>
            </a:r>
            <a:r>
              <a:rPr lang="en-IN" dirty="0" err="1"/>
              <a:t>colors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visualization suggests that the dataset contains location information for many states and cities.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dirty="0" err="1"/>
              <a:t>colored</a:t>
            </a:r>
            <a:r>
              <a:rPr lang="en-IN" dirty="0"/>
              <a:t> map alone does not clearly establish which state has the most products because the </a:t>
            </a:r>
            <a:r>
              <a:rPr lang="en-IN" dirty="0" err="1"/>
              <a:t>colors</a:t>
            </a:r>
            <a:r>
              <a:rPr lang="en-IN" dirty="0"/>
              <a:t> appear categorical and the legend is crowded.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map does not, by itself, demonstrate which states generate the highest sales or profit.</a:t>
            </a:r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79D0CD-F83F-A351-7A74-50C658D85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253" y="2625020"/>
            <a:ext cx="6845417" cy="239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53C54-6583-B7AF-CFCD-F43AB08CA6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dirty="0">
                <a:solidFill>
                  <a:schemeClr val="tx1"/>
                </a:solidFill>
              </a:rPr>
              <a:t>Improve Sales: Investigate low-sales months and plan seasonal promotions.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Regional Performance: Focus on improving sales in regions with lower activity, especially South.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Product Analysis: Identify the most profitable sub-categories using total profit, not just count.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Customer Retention: Introduce loyalty programs to encourage repeat purchases.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Inventory Management: Maintain sufficient stock for high-demand products such as Binders.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Delivery Analysis: Compare Order Date and Ship Date to identify shipping delays.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Dashboard Improvement: Correct inconsistent chart totals and add clear labels to the map.</a:t>
            </a:r>
          </a:p>
          <a:p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27F765-A064-39C8-CAF1-FF80A405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0" y="578841"/>
            <a:ext cx="7964488" cy="1472210"/>
          </a:xfrm>
        </p:spPr>
        <p:txBody>
          <a:bodyPr/>
          <a:lstStyle/>
          <a:p>
            <a:r>
              <a:rPr lang="en-IN" sz="2800" dirty="0"/>
              <a:t>Recommendations – </a:t>
            </a:r>
            <a:r>
              <a:rPr lang="en-IN" sz="2800" dirty="0" err="1"/>
              <a:t>SamplE</a:t>
            </a:r>
            <a:br>
              <a:rPr lang="en-IN" sz="2800" dirty="0"/>
            </a:br>
            <a:r>
              <a:rPr lang="en-IN" sz="2800" dirty="0"/>
              <a:t>Supermarket Store Dashboard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0564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{9A759426-276B-48AA-BEE2-C33CC9BAE95D}TF8a9b5915-b8c7-461e-8cdd-693d48b5e32371f7b7e2_win32-4bf0b9a2ea37</Template>
  <TotalTime>107</TotalTime>
  <Words>818</Words>
  <Application>Microsoft Office PowerPoint</Application>
  <PresentationFormat>Widescreen</PresentationFormat>
  <Paragraphs>101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Courier New</vt:lpstr>
      <vt:lpstr>Sabon Next LT</vt:lpstr>
      <vt:lpstr>Wingdings</vt:lpstr>
      <vt:lpstr>Custom</vt:lpstr>
      <vt:lpstr> DATA ANALYTICS AND VISUALIZATION(IT508)</vt:lpstr>
      <vt:lpstr>WHAT WE OBSERVED in RAW DATA</vt:lpstr>
      <vt:lpstr>Data Cleaning </vt:lpstr>
      <vt:lpstr>dashboard</vt:lpstr>
      <vt:lpstr>KPI Cards &amp; Order Date Slicer </vt:lpstr>
      <vt:lpstr>  line Chart : Sum of Sales by Month</vt:lpstr>
      <vt:lpstr>Donut Chart : Count of Sales by Region</vt:lpstr>
      <vt:lpstr>Horizontal bar Chart : Count of Profit by Sub-Category</vt:lpstr>
      <vt:lpstr>Filled map Chart : Count of Product Name by State and City</vt:lpstr>
      <vt:lpstr>Recommendations – SamplE Supermarket Store Dashboard 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Himani Lad</dc:creator>
  <cp:lastModifiedBy>Himani Lad</cp:lastModifiedBy>
  <cp:revision>1</cp:revision>
  <dcterms:created xsi:type="dcterms:W3CDTF">2026-10-12T08:04:42Z</dcterms:created>
  <dcterms:modified xsi:type="dcterms:W3CDTF">2026-10-12T09:51:59Z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